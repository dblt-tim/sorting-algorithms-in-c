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6" autoAdjust="0"/>
    <p:restoredTop sz="94660"/>
  </p:normalViewPr>
  <p:slideViewPr>
    <p:cSldViewPr snapToGrid="0">
      <p:cViewPr>
        <p:scale>
          <a:sx n="94" d="100"/>
          <a:sy n="94" d="100"/>
        </p:scale>
        <p:origin x="1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2B298C-7020-AEBC-0E70-F8A3F6256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1B47A5-5B0F-4C58-206E-0FC9942A6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602DCF-4B69-4274-B1E2-9411B1FFD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CDAE58-F4FC-7801-A4EC-71AEDA32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C022B7-F775-C21E-C173-FB8C316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963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A3F3D-0D66-573F-B0D8-4EA5B328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401A01-79F4-BB5E-3EB9-DDD753FE5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2B3293-47E2-68A8-4957-0965720D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9551CC-627D-299E-F269-862DE908C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E0E485-D7B8-C10C-AF58-E31E51B3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815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C95619-8A05-5B43-9533-48898B74D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422B9F-254F-92EE-6924-381EEF8C6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4A1D66-3670-C85F-B33E-FD845DC2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65BA16-7311-9BE7-75A6-9CA06181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37954C-4DEE-7989-92CF-ADACCAFA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921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5EF2C2-0E38-FF9F-9500-30FA6CB8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303D5E-4596-9A71-BB2C-E0A94BCDA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E38506-06AD-B700-8BE3-053BD60D7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2DAA6F-24AC-35F3-2C3D-EAFFCACD2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E1715D-293A-3451-EADF-8C2A1F69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0CF58F-F8C8-D817-E624-BA15725EA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511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35FE45-3EF8-8927-F1C7-43CE1639E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C3A00A-3456-80EE-DB0B-82C46B0A5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46C889-C70C-8616-4C8C-1491EA9F2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25D3081-B901-771D-02FC-DC4EB7953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E5127C7-E2FD-C3C4-8625-ADE9C696C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2674191-1C55-D87E-346B-9DDDDEA85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9A03DE4-5B2B-7B56-E462-77F41CF2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F49382C-0805-76F3-7142-89C97C74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55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237506-734B-9F6D-8C6E-DCA19A63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2FBC94-10E9-48D0-EA2A-DE8E6FB6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9F36C8-7A68-97A3-935D-101D20018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5255BC1-B85B-566D-D7E4-F97030ED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678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8782D80-D2B7-E6CA-9182-7FFAB322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5F1967-6996-52E9-2EB5-BA436441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CBFFF9-4DCD-F6F7-6C16-E1DB5B4FB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74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C4C04-B116-2273-4E91-74654E265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9AA1F1-825A-E1A6-480C-401BC6847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D551DE-52AE-137A-A48C-3981057CC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A3722A-9507-544B-E850-C8A84B9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DC880D-C56E-943B-D4FF-21FFAF62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691259-CDBE-7F34-366B-5318EC13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25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56C70E-C519-E6F8-6695-90AD2434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F6E1569-59B7-D0E8-85C9-0C1613734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B72F396-0F34-9D64-98B5-8DDECC02C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30208F-5429-7AA6-6B02-D0E8B4CA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F7CDF0-DF5E-91B6-9649-9D63DCF86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C69D91-88B3-E22B-05C8-9BFE39BE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11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E3A10A-0BC5-EB69-C9C0-C3281CE5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2379D2-0C16-F147-1995-44586F776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5FA0B7-52F9-0C21-F028-79CD79D64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77C043-7D0A-1C0C-6840-D524320F4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D6BCEA-9544-E702-B8BD-17931F8D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2354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40948AD-46D2-E2ED-864E-534F6FA993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38E0B9-D0C2-4B8B-0764-B20D50F52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A9E7F7-8630-2C79-719C-A0175FD0E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A02E26-C247-7A23-4689-B70006F85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891D8D-6BEB-B7EC-E406-5466A2B4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487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A139B4C-482B-32BE-3589-2E4391056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F411CD-501E-068A-1BE9-17FED557C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2042C8-2FFF-354D-7F0D-2D85A67BC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B68755-6137-4F1C-996F-DD963CCB9EA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54CB42-0829-7A16-D463-688A3E586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81D6A8-0DDE-D833-C7C9-CE16F2A9B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94C94-4A34-471A-9BDB-CB6C2A145E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66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CE84868-BF9D-947F-103D-E8E04CC957C0}"/>
              </a:ext>
            </a:extLst>
          </p:cNvPr>
          <p:cNvSpPr txBox="1"/>
          <p:nvPr/>
        </p:nvSpPr>
        <p:spPr>
          <a:xfrm>
            <a:off x="1336364" y="1859340"/>
            <a:ext cx="47596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Algorithmes présentés :</a:t>
            </a:r>
            <a:br>
              <a:rPr lang="fr-FR" sz="3200" b="1" u="sng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fr-FR" sz="3200" dirty="0">
                <a:latin typeface="Segoe UI" panose="020B0502040204020203" pitchFamily="34" charset="0"/>
                <a:cs typeface="Segoe UI" panose="020B0502040204020203" pitchFamily="34" charset="0"/>
              </a:rPr>
              <a:t>- Tri par insertion</a:t>
            </a:r>
            <a:br>
              <a:rPr lang="fr-FR" sz="3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fr-FR" sz="3200" dirty="0">
                <a:latin typeface="Segoe UI" panose="020B0502040204020203" pitchFamily="34" charset="0"/>
                <a:cs typeface="Segoe UI" panose="020B0502040204020203" pitchFamily="34" charset="0"/>
              </a:rPr>
              <a:t>- Tri par tas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E878D2-AE0F-66D3-8538-B00DEBFBDA95}"/>
              </a:ext>
            </a:extLst>
          </p:cNvPr>
          <p:cNvSpPr/>
          <p:nvPr/>
        </p:nvSpPr>
        <p:spPr>
          <a:xfrm>
            <a:off x="0" y="6098240"/>
            <a:ext cx="12192000" cy="7597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B8BF85B-8CE3-B812-8BD9-E46F5E1D09D3}"/>
              </a:ext>
            </a:extLst>
          </p:cNvPr>
          <p:cNvSpPr txBox="1"/>
          <p:nvPr/>
        </p:nvSpPr>
        <p:spPr>
          <a:xfrm>
            <a:off x="0" y="5636575"/>
            <a:ext cx="2220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Timéo DIEBOLT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32E76D6-4CCC-9C3F-3C74-E526E638B4B1}"/>
              </a:ext>
            </a:extLst>
          </p:cNvPr>
          <p:cNvSpPr txBox="1"/>
          <p:nvPr/>
        </p:nvSpPr>
        <p:spPr>
          <a:xfrm>
            <a:off x="11684000" y="62934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668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34A5A-A6ED-2F99-3FA2-5A3331F9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8DFA85-2F8E-822B-459B-90BCBF33497B}"/>
              </a:ext>
            </a:extLst>
          </p:cNvPr>
          <p:cNvSpPr/>
          <p:nvPr/>
        </p:nvSpPr>
        <p:spPr>
          <a:xfrm>
            <a:off x="0" y="6098240"/>
            <a:ext cx="12192000" cy="7597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319F493-CE0A-95F4-3897-03ABB4BDC130}"/>
              </a:ext>
            </a:extLst>
          </p:cNvPr>
          <p:cNvSpPr txBox="1"/>
          <p:nvPr/>
        </p:nvSpPr>
        <p:spPr>
          <a:xfrm>
            <a:off x="4465105" y="0"/>
            <a:ext cx="3261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Tri par insertion</a:t>
            </a:r>
          </a:p>
        </p:txBody>
      </p:sp>
      <p:pic>
        <p:nvPicPr>
          <p:cNvPr id="8" name="Image 7" descr="The provided text appears to be a snippet of a C++ function implementing the insertion sort algorithm, which is a simple sorting method.&#10;&#10;Le contenu généré par l’IA peut être incorrect.">
            <a:extLst>
              <a:ext uri="{FF2B5EF4-FFF2-40B4-BE49-F238E27FC236}">
                <a16:creationId xmlns:a16="http://schemas.microsoft.com/office/drawing/2014/main" id="{0BE94E42-BD45-F4FB-50F3-C275283C4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895" y="1640311"/>
            <a:ext cx="4457929" cy="445792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DFF76E6-1FF2-6D1D-B1CF-DA1D792D2523}"/>
              </a:ext>
            </a:extLst>
          </p:cNvPr>
          <p:cNvSpPr txBox="1"/>
          <p:nvPr/>
        </p:nvSpPr>
        <p:spPr>
          <a:xfrm>
            <a:off x="-2230" y="1178646"/>
            <a:ext cx="2723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Fonctionnement :</a:t>
            </a:r>
          </a:p>
        </p:txBody>
      </p:sp>
      <p:pic>
        <p:nvPicPr>
          <p:cNvPr id="15" name="Image 14" descr="The image appears to be a sequence or matrix of numbers arranged in a grid format, possibly representing a counting or patterning exercise.&#10;&#10;Le contenu généré par l’IA peut être incorrect.">
            <a:extLst>
              <a:ext uri="{FF2B5EF4-FFF2-40B4-BE49-F238E27FC236}">
                <a16:creationId xmlns:a16="http://schemas.microsoft.com/office/drawing/2014/main" id="{1008EE25-16B3-58A4-7992-E7606C39E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49" y="1824977"/>
            <a:ext cx="4457930" cy="779260"/>
          </a:xfrm>
          <a:prstGeom prst="rect">
            <a:avLst/>
          </a:prstGeom>
        </p:spPr>
      </p:pic>
      <p:pic>
        <p:nvPicPr>
          <p:cNvPr id="21" name="Image 20" descr="The image appears to be a sequence or pattern of numbers arranged in a linear or grid format, potentially illustrating a mathematical or numerical progression.&#10;&#10;Le contenu généré par l’IA peut être incorrect.">
            <a:extLst>
              <a:ext uri="{FF2B5EF4-FFF2-40B4-BE49-F238E27FC236}">
                <a16:creationId xmlns:a16="http://schemas.microsoft.com/office/drawing/2014/main" id="{C6663213-AF03-A29B-3CDB-CDC3896B0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71" y="2788903"/>
            <a:ext cx="4457929" cy="965478"/>
          </a:xfrm>
          <a:prstGeom prst="rect">
            <a:avLst/>
          </a:prstGeom>
        </p:spPr>
      </p:pic>
      <p:pic>
        <p:nvPicPr>
          <p:cNvPr id="23" name="Image 22" descr="The image appears to be a sequence or pattern of numbers arranged in a linear or grid format, possibly representing a counting or ordering exercise.&#10;&#10;Le contenu généré par l’IA peut être incorrect.">
            <a:extLst>
              <a:ext uri="{FF2B5EF4-FFF2-40B4-BE49-F238E27FC236}">
                <a16:creationId xmlns:a16="http://schemas.microsoft.com/office/drawing/2014/main" id="{561DF5AD-D7F3-75FE-3FDD-7220A2E55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50" y="3838816"/>
            <a:ext cx="4457929" cy="941469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D88446D2-9004-4F19-13BC-FDC7D1D84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71" y="4954984"/>
            <a:ext cx="4457929" cy="76411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E263B110-F325-7902-AA46-37DCDFE5D6B5}"/>
              </a:ext>
            </a:extLst>
          </p:cNvPr>
          <p:cNvSpPr txBox="1"/>
          <p:nvPr/>
        </p:nvSpPr>
        <p:spPr>
          <a:xfrm>
            <a:off x="4465105" y="5770170"/>
            <a:ext cx="2603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*Schémas tirés du cours sur </a:t>
            </a:r>
            <a:r>
              <a:rPr lang="fr-FR" sz="1200" dirty="0" err="1"/>
              <a:t>moodle</a:t>
            </a:r>
            <a:endParaRPr lang="fr-FR" sz="12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D0AE530-67CE-BC39-4D8B-3760A2228ED7}"/>
              </a:ext>
            </a:extLst>
          </p:cNvPr>
          <p:cNvSpPr txBox="1"/>
          <p:nvPr/>
        </p:nvSpPr>
        <p:spPr>
          <a:xfrm>
            <a:off x="11684000" y="62934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2618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B3A7B-8EE7-50C5-8604-2B79F059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7BD51C-62D2-1716-5095-321A53C1DD5C}"/>
              </a:ext>
            </a:extLst>
          </p:cNvPr>
          <p:cNvSpPr/>
          <p:nvPr/>
        </p:nvSpPr>
        <p:spPr>
          <a:xfrm>
            <a:off x="0" y="6098240"/>
            <a:ext cx="12192000" cy="7597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CBDD89A-634C-967A-A09D-8E2DCC9FFFCA}"/>
              </a:ext>
            </a:extLst>
          </p:cNvPr>
          <p:cNvSpPr txBox="1"/>
          <p:nvPr/>
        </p:nvSpPr>
        <p:spPr>
          <a:xfrm>
            <a:off x="4465105" y="0"/>
            <a:ext cx="3261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Tri par insertion</a:t>
            </a:r>
          </a:p>
        </p:txBody>
      </p:sp>
      <p:pic>
        <p:nvPicPr>
          <p:cNvPr id="8" name="Image 7" descr="The provided text appears to be a snippet of a C++ function implementing the insertion sort algorithm, which is a simple sorting method.&#10;&#10;Le contenu généré par l’IA peut être incorrect.">
            <a:extLst>
              <a:ext uri="{FF2B5EF4-FFF2-40B4-BE49-F238E27FC236}">
                <a16:creationId xmlns:a16="http://schemas.microsoft.com/office/drawing/2014/main" id="{8E05B690-B78F-219B-3469-FD1350711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895" y="1640311"/>
            <a:ext cx="4457929" cy="445792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51564C4-1F01-0E7D-9584-6C8A173B2D65}"/>
              </a:ext>
            </a:extLst>
          </p:cNvPr>
          <p:cNvSpPr txBox="1"/>
          <p:nvPr/>
        </p:nvSpPr>
        <p:spPr>
          <a:xfrm>
            <a:off x="7176" y="1178646"/>
            <a:ext cx="200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Complexité 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8FEC40D-8D88-1150-173F-A21465196555}"/>
              </a:ext>
            </a:extLst>
          </p:cNvPr>
          <p:cNvSpPr txBox="1"/>
          <p:nvPr/>
        </p:nvSpPr>
        <p:spPr>
          <a:xfrm>
            <a:off x="7176" y="1640311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Lignes 6 à 15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7AFD2D2-6209-E032-96E0-CD30D3D75E47}"/>
                  </a:ext>
                </a:extLst>
              </p:cNvPr>
              <p:cNvSpPr txBox="1"/>
              <p:nvPr/>
            </p:nvSpPr>
            <p:spPr>
              <a:xfrm>
                <a:off x="1411728" y="2009643"/>
                <a:ext cx="26239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6−15</m:t>
                          </m:r>
                        </m:sub>
                      </m:sSub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∈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7AFD2D2-6209-E032-96E0-CD30D3D75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728" y="2009643"/>
                <a:ext cx="2623988" cy="276999"/>
              </a:xfrm>
              <a:prstGeom prst="rect">
                <a:avLst/>
              </a:prstGeom>
              <a:blipFill>
                <a:blip r:embed="rId3"/>
                <a:stretch>
                  <a:fillRect l="-1860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ZoneTexte 15">
            <a:extLst>
              <a:ext uri="{FF2B5EF4-FFF2-40B4-BE49-F238E27FC236}">
                <a16:creationId xmlns:a16="http://schemas.microsoft.com/office/drawing/2014/main" id="{B24CA427-4193-7849-13CF-C81A04C3868D}"/>
              </a:ext>
            </a:extLst>
          </p:cNvPr>
          <p:cNvSpPr txBox="1"/>
          <p:nvPr/>
        </p:nvSpPr>
        <p:spPr>
          <a:xfrm>
            <a:off x="-2230" y="2655974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Globalement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67587766-51D9-4909-B4CC-FDD3C01AD810}"/>
                  </a:ext>
                </a:extLst>
              </p:cNvPr>
              <p:cNvSpPr txBox="1"/>
              <p:nvPr/>
            </p:nvSpPr>
            <p:spPr>
              <a:xfrm>
                <a:off x="1750333" y="3040864"/>
                <a:ext cx="2829749" cy="2318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insertion</m:t>
                          </m:r>
                        </m:sub>
                      </m:sSub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6−15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fr-FR" b="0" dirty="0"/>
              </a:p>
              <a:p>
                <a:br>
                  <a:rPr lang="fr-FR" b="0" dirty="0"/>
                </a:br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67587766-51D9-4909-B4CC-FDD3C01AD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333" y="3040864"/>
                <a:ext cx="2829749" cy="2318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ccolade ouvrante 17">
            <a:extLst>
              <a:ext uri="{FF2B5EF4-FFF2-40B4-BE49-F238E27FC236}">
                <a16:creationId xmlns:a16="http://schemas.microsoft.com/office/drawing/2014/main" id="{E36D05FD-14B5-C27E-DAAB-53EBE8CF708D}"/>
              </a:ext>
            </a:extLst>
          </p:cNvPr>
          <p:cNvSpPr/>
          <p:nvPr/>
        </p:nvSpPr>
        <p:spPr>
          <a:xfrm>
            <a:off x="7314751" y="2939627"/>
            <a:ext cx="323875" cy="241994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C9B010C9-38D3-AC9E-B999-76712BBD376B}"/>
              </a:ext>
            </a:extLst>
          </p:cNvPr>
          <p:cNvCxnSpPr>
            <a:stCxn id="18" idx="1"/>
          </p:cNvCxnSpPr>
          <p:nvPr/>
        </p:nvCxnSpPr>
        <p:spPr>
          <a:xfrm rot="10800000">
            <a:off x="4307841" y="2167468"/>
            <a:ext cx="3006911" cy="19821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315F6157-3E56-136A-C8BD-E516C16561E0}"/>
              </a:ext>
            </a:extLst>
          </p:cNvPr>
          <p:cNvSpPr txBox="1"/>
          <p:nvPr/>
        </p:nvSpPr>
        <p:spPr>
          <a:xfrm>
            <a:off x="11684000" y="62934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7382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5F52-4C1B-4757-FD88-DCFDBFCC9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CD90CF-0226-B9F8-26DE-8994FDD023A6}"/>
              </a:ext>
            </a:extLst>
          </p:cNvPr>
          <p:cNvSpPr/>
          <p:nvPr/>
        </p:nvSpPr>
        <p:spPr>
          <a:xfrm>
            <a:off x="0" y="6098240"/>
            <a:ext cx="12192000" cy="7597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025C8C8-C64E-6147-4064-A3B02BFFC9FB}"/>
              </a:ext>
            </a:extLst>
          </p:cNvPr>
          <p:cNvSpPr txBox="1"/>
          <p:nvPr/>
        </p:nvSpPr>
        <p:spPr>
          <a:xfrm>
            <a:off x="4465105" y="-650238"/>
            <a:ext cx="3261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Tri par insertion</a:t>
            </a:r>
          </a:p>
        </p:txBody>
      </p:sp>
      <p:pic>
        <p:nvPicPr>
          <p:cNvPr id="8" name="Image 7" descr="The provided text appears to be a snippet of a C++ function implementing the insertion sort algorithm, which is a simple sorting method.&#10;&#10;Le contenu généré par l’IA peut être incorrect.">
            <a:extLst>
              <a:ext uri="{FF2B5EF4-FFF2-40B4-BE49-F238E27FC236}">
                <a16:creationId xmlns:a16="http://schemas.microsoft.com/office/drawing/2014/main" id="{0DE06905-6CDA-D583-EED8-99871518F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8558" y="1640311"/>
            <a:ext cx="4457929" cy="445792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80CC595-E21E-8B1B-91C5-2F72457A646E}"/>
              </a:ext>
            </a:extLst>
          </p:cNvPr>
          <p:cNvSpPr txBox="1"/>
          <p:nvPr/>
        </p:nvSpPr>
        <p:spPr>
          <a:xfrm>
            <a:off x="5044879" y="0"/>
            <a:ext cx="2102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Tri par tas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BDA8316-4B1C-82E1-5C11-B33E9757D46A}"/>
              </a:ext>
            </a:extLst>
          </p:cNvPr>
          <p:cNvSpPr txBox="1"/>
          <p:nvPr/>
        </p:nvSpPr>
        <p:spPr>
          <a:xfrm>
            <a:off x="0" y="1178645"/>
            <a:ext cx="2723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Fonctionnement :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6275864-FA03-5B5B-7C0D-9924B35ED1AE}"/>
              </a:ext>
            </a:extLst>
          </p:cNvPr>
          <p:cNvSpPr txBox="1"/>
          <p:nvPr/>
        </p:nvSpPr>
        <p:spPr>
          <a:xfrm>
            <a:off x="4196794" y="1640310"/>
            <a:ext cx="3798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latin typeface="Segoe UI" panose="020B0502040204020203" pitchFamily="34" charset="0"/>
                <a:cs typeface="Segoe UI" panose="020B0502040204020203" pitchFamily="34" charset="0"/>
              </a:rPr>
              <a:t>Étape préliminaire : construire le tas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A8A37761-6D44-9485-9A70-11E7C4C0947C}"/>
                  </a:ext>
                </a:extLst>
              </p:cNvPr>
              <p:cNvSpPr txBox="1"/>
              <p:nvPr/>
            </p:nvSpPr>
            <p:spPr>
              <a:xfrm>
                <a:off x="5815574" y="5253040"/>
                <a:ext cx="6376426" cy="655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Complexité : on passe une fois dans tous les sous-arbres donc</a:t>
                </a:r>
                <a:br>
                  <a:rPr lang="fr-FR" dirty="0"/>
                </a:b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𝑡𝑎𝑠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A8A37761-6D44-9485-9A70-11E7C4C09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574" y="5253040"/>
                <a:ext cx="6376426" cy="655629"/>
              </a:xfrm>
              <a:prstGeom prst="rect">
                <a:avLst/>
              </a:prstGeom>
              <a:blipFill>
                <a:blip r:embed="rId3"/>
                <a:stretch>
                  <a:fillRect l="-860" t="-4673" b="-65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llipse 19">
            <a:extLst>
              <a:ext uri="{FF2B5EF4-FFF2-40B4-BE49-F238E27FC236}">
                <a16:creationId xmlns:a16="http://schemas.microsoft.com/office/drawing/2014/main" id="{7630ADE4-BECE-4708-0BF4-436E13784E77}"/>
              </a:ext>
            </a:extLst>
          </p:cNvPr>
          <p:cNvSpPr/>
          <p:nvPr/>
        </p:nvSpPr>
        <p:spPr>
          <a:xfrm>
            <a:off x="1577738" y="2611132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54A82D6-27DD-3035-4335-DD62836A0D8C}"/>
              </a:ext>
            </a:extLst>
          </p:cNvPr>
          <p:cNvSpPr/>
          <p:nvPr/>
        </p:nvSpPr>
        <p:spPr>
          <a:xfrm>
            <a:off x="720911" y="3824433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0960D47F-C053-C161-0F59-D12CDDBD3AE1}"/>
              </a:ext>
            </a:extLst>
          </p:cNvPr>
          <p:cNvSpPr/>
          <p:nvPr/>
        </p:nvSpPr>
        <p:spPr>
          <a:xfrm>
            <a:off x="2459388" y="3824433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48F8A73-892E-73D8-9872-1D7827DEF8B8}"/>
              </a:ext>
            </a:extLst>
          </p:cNvPr>
          <p:cNvSpPr txBox="1"/>
          <p:nvPr/>
        </p:nvSpPr>
        <p:spPr>
          <a:xfrm>
            <a:off x="1893300" y="40585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</a:t>
            </a:r>
          </a:p>
        </p:txBody>
      </p:sp>
      <p:graphicFrame>
        <p:nvGraphicFramePr>
          <p:cNvPr id="30" name="Tableau 29">
            <a:extLst>
              <a:ext uri="{FF2B5EF4-FFF2-40B4-BE49-F238E27FC236}">
                <a16:creationId xmlns:a16="http://schemas.microsoft.com/office/drawing/2014/main" id="{89078E15-116B-FB70-CA40-7A74A9CFF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549236"/>
              </p:ext>
            </p:extLst>
          </p:nvPr>
        </p:nvGraphicFramePr>
        <p:xfrm>
          <a:off x="6514587" y="2171874"/>
          <a:ext cx="4978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4035579575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93059416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4837238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70773797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391942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57190492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057959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701608"/>
                  </a:ext>
                </a:extLst>
              </a:tr>
            </a:tbl>
          </a:graphicData>
        </a:graphic>
      </p:graphicFrame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66613B5A-38F7-DF5C-E479-297CAB1DD43E}"/>
              </a:ext>
            </a:extLst>
          </p:cNvPr>
          <p:cNvCxnSpPr>
            <a:stCxn id="22" idx="7"/>
            <a:endCxn id="20" idx="3"/>
          </p:cNvCxnSpPr>
          <p:nvPr/>
        </p:nvCxnSpPr>
        <p:spPr>
          <a:xfrm flipV="1">
            <a:off x="1501400" y="3391621"/>
            <a:ext cx="210249" cy="5667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12776F52-0E87-725A-A699-9810AC84F6E7}"/>
              </a:ext>
            </a:extLst>
          </p:cNvPr>
          <p:cNvCxnSpPr>
            <a:stCxn id="20" idx="5"/>
            <a:endCxn id="24" idx="1"/>
          </p:cNvCxnSpPr>
          <p:nvPr/>
        </p:nvCxnSpPr>
        <p:spPr>
          <a:xfrm>
            <a:off x="2358227" y="3391621"/>
            <a:ext cx="235072" cy="5667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92849F07-201D-DB51-1B00-6110E699B576}"/>
              </a:ext>
            </a:extLst>
          </p:cNvPr>
          <p:cNvCxnSpPr/>
          <p:nvPr/>
        </p:nvCxnSpPr>
        <p:spPr>
          <a:xfrm>
            <a:off x="2593299" y="3268556"/>
            <a:ext cx="223328" cy="4677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12674047-5917-3A64-0F04-6663404EC4B7}"/>
              </a:ext>
            </a:extLst>
          </p:cNvPr>
          <p:cNvSpPr txBox="1"/>
          <p:nvPr/>
        </p:nvSpPr>
        <p:spPr>
          <a:xfrm>
            <a:off x="870164" y="2187125"/>
            <a:ext cx="232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À chaque sous arbre :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AB66B564-3108-90A7-2882-A7B839A041C6}"/>
              </a:ext>
            </a:extLst>
          </p:cNvPr>
          <p:cNvSpPr/>
          <p:nvPr/>
        </p:nvSpPr>
        <p:spPr>
          <a:xfrm>
            <a:off x="8545301" y="2640795"/>
            <a:ext cx="914400" cy="9144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12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54864B90-BB9C-8E6C-6995-57333AFBFE67}"/>
              </a:ext>
            </a:extLst>
          </p:cNvPr>
          <p:cNvSpPr/>
          <p:nvPr/>
        </p:nvSpPr>
        <p:spPr>
          <a:xfrm>
            <a:off x="7903814" y="3555195"/>
            <a:ext cx="914400" cy="9144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9F1E89E8-1A91-2A18-23DF-7E726E9A0DBF}"/>
              </a:ext>
            </a:extLst>
          </p:cNvPr>
          <p:cNvSpPr/>
          <p:nvPr/>
        </p:nvSpPr>
        <p:spPr>
          <a:xfrm>
            <a:off x="9222482" y="3552594"/>
            <a:ext cx="914400" cy="9144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6</a:t>
            </a: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C7ABDCFA-1065-92DA-A5EA-69BC07E5545F}"/>
              </a:ext>
            </a:extLst>
          </p:cNvPr>
          <p:cNvCxnSpPr>
            <a:stCxn id="38" idx="3"/>
            <a:endCxn id="39" idx="7"/>
          </p:cNvCxnSpPr>
          <p:nvPr/>
        </p:nvCxnSpPr>
        <p:spPr>
          <a:xfrm>
            <a:off x="8679212" y="3421284"/>
            <a:ext cx="5091" cy="267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035F735C-7479-964B-FEA8-9DA4DE9628C7}"/>
              </a:ext>
            </a:extLst>
          </p:cNvPr>
          <p:cNvCxnSpPr>
            <a:stCxn id="38" idx="5"/>
            <a:endCxn id="40" idx="1"/>
          </p:cNvCxnSpPr>
          <p:nvPr/>
        </p:nvCxnSpPr>
        <p:spPr>
          <a:xfrm>
            <a:off x="9325790" y="3421284"/>
            <a:ext cx="30603" cy="2652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BCD65669-6570-4C84-553D-E6B68C8A928C}"/>
              </a:ext>
            </a:extLst>
          </p:cNvPr>
          <p:cNvCxnSpPr>
            <a:stCxn id="39" idx="3"/>
          </p:cNvCxnSpPr>
          <p:nvPr/>
        </p:nvCxnSpPr>
        <p:spPr>
          <a:xfrm flipH="1">
            <a:off x="7903814" y="4335684"/>
            <a:ext cx="133911" cy="297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77A42F7C-9E0C-C03D-2F39-616A7C42581F}"/>
              </a:ext>
            </a:extLst>
          </p:cNvPr>
          <p:cNvCxnSpPr>
            <a:stCxn id="39" idx="5"/>
          </p:cNvCxnSpPr>
          <p:nvPr/>
        </p:nvCxnSpPr>
        <p:spPr>
          <a:xfrm>
            <a:off x="8684303" y="4335684"/>
            <a:ext cx="133911" cy="297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3D8E0035-493F-96E8-FC31-2B49D4C6FE32}"/>
              </a:ext>
            </a:extLst>
          </p:cNvPr>
          <p:cNvCxnSpPr>
            <a:stCxn id="40" idx="3"/>
          </p:cNvCxnSpPr>
          <p:nvPr/>
        </p:nvCxnSpPr>
        <p:spPr>
          <a:xfrm flipH="1">
            <a:off x="9325790" y="4333083"/>
            <a:ext cx="30603" cy="2998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710EF56A-769C-AC9A-6BFA-036C1052AB85}"/>
              </a:ext>
            </a:extLst>
          </p:cNvPr>
          <p:cNvCxnSpPr>
            <a:stCxn id="40" idx="5"/>
          </p:cNvCxnSpPr>
          <p:nvPr/>
        </p:nvCxnSpPr>
        <p:spPr>
          <a:xfrm>
            <a:off x="10002971" y="4333083"/>
            <a:ext cx="55429" cy="2998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37352C3B-AA66-C0A4-4569-6F20532F8691}"/>
              </a:ext>
            </a:extLst>
          </p:cNvPr>
          <p:cNvSpPr txBox="1"/>
          <p:nvPr/>
        </p:nvSpPr>
        <p:spPr>
          <a:xfrm>
            <a:off x="8846753" y="465896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…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A56280E-5A7B-6A10-1035-6A704E139BD4}"/>
              </a:ext>
            </a:extLst>
          </p:cNvPr>
          <p:cNvSpPr txBox="1"/>
          <p:nvPr/>
        </p:nvSpPr>
        <p:spPr>
          <a:xfrm>
            <a:off x="11684000" y="62934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59534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665D-E0B0-9A52-0346-2AA7853C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E212AD-C05A-CAE3-7A68-04935E608B59}"/>
              </a:ext>
            </a:extLst>
          </p:cNvPr>
          <p:cNvSpPr/>
          <p:nvPr/>
        </p:nvSpPr>
        <p:spPr>
          <a:xfrm>
            <a:off x="0" y="6098240"/>
            <a:ext cx="12192000" cy="7597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DE78CB0-A339-6C09-20E3-EFDF0C3A142C}"/>
              </a:ext>
            </a:extLst>
          </p:cNvPr>
          <p:cNvSpPr txBox="1"/>
          <p:nvPr/>
        </p:nvSpPr>
        <p:spPr>
          <a:xfrm>
            <a:off x="4465105" y="-650238"/>
            <a:ext cx="3261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Tri par insertion</a:t>
            </a:r>
          </a:p>
        </p:txBody>
      </p:sp>
      <p:pic>
        <p:nvPicPr>
          <p:cNvPr id="8" name="Image 7" descr="The provided text appears to be a snippet of a C++ function implementing the insertion sort algorithm, which is a simple sorting method.&#10;&#10;Le contenu généré par l’IA peut être incorrect.">
            <a:extLst>
              <a:ext uri="{FF2B5EF4-FFF2-40B4-BE49-F238E27FC236}">
                <a16:creationId xmlns:a16="http://schemas.microsoft.com/office/drawing/2014/main" id="{B24CD069-ED04-E3E7-1C24-27D8B3FAE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8558" y="1640311"/>
            <a:ext cx="4457929" cy="445792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9090750-BC98-88E7-50DA-B82E6C765AD7}"/>
              </a:ext>
            </a:extLst>
          </p:cNvPr>
          <p:cNvSpPr txBox="1"/>
          <p:nvPr/>
        </p:nvSpPr>
        <p:spPr>
          <a:xfrm>
            <a:off x="5044879" y="0"/>
            <a:ext cx="2102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Tri par tas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95D8486-95B6-ADCD-00F4-7DA2CD4E4A4E}"/>
              </a:ext>
            </a:extLst>
          </p:cNvPr>
          <p:cNvSpPr txBox="1"/>
          <p:nvPr/>
        </p:nvSpPr>
        <p:spPr>
          <a:xfrm>
            <a:off x="0" y="1178645"/>
            <a:ext cx="2723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Fonctionnement :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56F61D0-D097-9E43-D7C7-E9BB9BC032B6}"/>
              </a:ext>
            </a:extLst>
          </p:cNvPr>
          <p:cNvSpPr txBox="1"/>
          <p:nvPr/>
        </p:nvSpPr>
        <p:spPr>
          <a:xfrm>
            <a:off x="891211" y="1917310"/>
            <a:ext cx="919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À chaque itération : on échange la racine du tas avec le « dernier », puis on reconstruit le tas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61CB9E6-5822-2972-017E-ACDBF741E06B}"/>
              </a:ext>
            </a:extLst>
          </p:cNvPr>
          <p:cNvSpPr/>
          <p:nvPr/>
        </p:nvSpPr>
        <p:spPr>
          <a:xfrm>
            <a:off x="2440167" y="2839981"/>
            <a:ext cx="914400" cy="9144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DB968AAA-9F19-0B07-205D-97C69D91C808}"/>
              </a:ext>
            </a:extLst>
          </p:cNvPr>
          <p:cNvSpPr/>
          <p:nvPr/>
        </p:nvSpPr>
        <p:spPr>
          <a:xfrm>
            <a:off x="1798680" y="3754381"/>
            <a:ext cx="914400" cy="9144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C0DD056F-90FA-7541-A5CF-9CF056CC8E59}"/>
              </a:ext>
            </a:extLst>
          </p:cNvPr>
          <p:cNvSpPr/>
          <p:nvPr/>
        </p:nvSpPr>
        <p:spPr>
          <a:xfrm>
            <a:off x="3117348" y="3751780"/>
            <a:ext cx="914400" cy="9144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6</a:t>
            </a:r>
          </a:p>
        </p:txBody>
      </p: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958BECC3-0FE6-AE5E-9059-6B8E1082209E}"/>
              </a:ext>
            </a:extLst>
          </p:cNvPr>
          <p:cNvCxnSpPr>
            <a:stCxn id="31" idx="3"/>
            <a:endCxn id="33" idx="7"/>
          </p:cNvCxnSpPr>
          <p:nvPr/>
        </p:nvCxnSpPr>
        <p:spPr>
          <a:xfrm>
            <a:off x="2574078" y="3620470"/>
            <a:ext cx="5091" cy="267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D6669191-8FD4-B3B1-7583-EEF0117B3EA9}"/>
              </a:ext>
            </a:extLst>
          </p:cNvPr>
          <p:cNvCxnSpPr>
            <a:stCxn id="31" idx="5"/>
            <a:endCxn id="35" idx="1"/>
          </p:cNvCxnSpPr>
          <p:nvPr/>
        </p:nvCxnSpPr>
        <p:spPr>
          <a:xfrm>
            <a:off x="3220656" y="3620470"/>
            <a:ext cx="30603" cy="2652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091C3E17-EDF5-A94D-955F-3A1AEC9543EE}"/>
              </a:ext>
            </a:extLst>
          </p:cNvPr>
          <p:cNvCxnSpPr>
            <a:stCxn id="33" idx="3"/>
          </p:cNvCxnSpPr>
          <p:nvPr/>
        </p:nvCxnSpPr>
        <p:spPr>
          <a:xfrm flipH="1">
            <a:off x="1798680" y="4534870"/>
            <a:ext cx="133911" cy="297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4E35ADBF-129E-F635-00BD-75CE67487869}"/>
              </a:ext>
            </a:extLst>
          </p:cNvPr>
          <p:cNvCxnSpPr>
            <a:stCxn id="33" idx="5"/>
          </p:cNvCxnSpPr>
          <p:nvPr/>
        </p:nvCxnSpPr>
        <p:spPr>
          <a:xfrm>
            <a:off x="2579169" y="4534870"/>
            <a:ext cx="133911" cy="297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987DA8C7-57D2-44DF-64FC-3FC73AEE7BA8}"/>
              </a:ext>
            </a:extLst>
          </p:cNvPr>
          <p:cNvCxnSpPr>
            <a:stCxn id="35" idx="3"/>
          </p:cNvCxnSpPr>
          <p:nvPr/>
        </p:nvCxnSpPr>
        <p:spPr>
          <a:xfrm flipH="1">
            <a:off x="3220656" y="4532269"/>
            <a:ext cx="30603" cy="2998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Ellipse 53">
            <a:extLst>
              <a:ext uri="{FF2B5EF4-FFF2-40B4-BE49-F238E27FC236}">
                <a16:creationId xmlns:a16="http://schemas.microsoft.com/office/drawing/2014/main" id="{5E8C143A-9D9E-DD06-2090-A5021B3A1766}"/>
              </a:ext>
            </a:extLst>
          </p:cNvPr>
          <p:cNvSpPr/>
          <p:nvPr/>
        </p:nvSpPr>
        <p:spPr>
          <a:xfrm>
            <a:off x="3758835" y="4757759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12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2CF93437-6A7D-5763-6381-FB679A700395}"/>
              </a:ext>
            </a:extLst>
          </p:cNvPr>
          <p:cNvSpPr txBox="1"/>
          <p:nvPr/>
        </p:nvSpPr>
        <p:spPr>
          <a:xfrm>
            <a:off x="3870304" y="446281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3260AE82-E791-D254-2FFA-B9842719044A}"/>
              </a:ext>
            </a:extLst>
          </p:cNvPr>
          <p:cNvSpPr/>
          <p:nvPr/>
        </p:nvSpPr>
        <p:spPr>
          <a:xfrm>
            <a:off x="6700039" y="3552736"/>
            <a:ext cx="914400" cy="9144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7E784FC5-FF74-721A-571F-B360BAFDD6B8}"/>
              </a:ext>
            </a:extLst>
          </p:cNvPr>
          <p:cNvSpPr/>
          <p:nvPr/>
        </p:nvSpPr>
        <p:spPr>
          <a:xfrm>
            <a:off x="7492389" y="2638336"/>
            <a:ext cx="914400" cy="9144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475ECCE1-9CEE-C514-49B1-700EECE77F45}"/>
              </a:ext>
            </a:extLst>
          </p:cNvPr>
          <p:cNvSpPr/>
          <p:nvPr/>
        </p:nvSpPr>
        <p:spPr>
          <a:xfrm>
            <a:off x="8303481" y="3520480"/>
            <a:ext cx="914400" cy="9144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6</a:t>
            </a:r>
          </a:p>
        </p:txBody>
      </p: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3A8ABC7D-39E3-1D76-05C4-809A7EA1C786}"/>
              </a:ext>
            </a:extLst>
          </p:cNvPr>
          <p:cNvCxnSpPr>
            <a:stCxn id="58" idx="3"/>
          </p:cNvCxnSpPr>
          <p:nvPr/>
        </p:nvCxnSpPr>
        <p:spPr>
          <a:xfrm flipH="1">
            <a:off x="8406789" y="4300969"/>
            <a:ext cx="30603" cy="2998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llipse 63">
            <a:extLst>
              <a:ext uri="{FF2B5EF4-FFF2-40B4-BE49-F238E27FC236}">
                <a16:creationId xmlns:a16="http://schemas.microsoft.com/office/drawing/2014/main" id="{D826BBB3-72F1-EFD2-0F24-5999C06BBACB}"/>
              </a:ext>
            </a:extLst>
          </p:cNvPr>
          <p:cNvSpPr/>
          <p:nvPr/>
        </p:nvSpPr>
        <p:spPr>
          <a:xfrm>
            <a:off x="8944968" y="4526459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12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5103E8C8-2C00-21F0-11DA-EFCF34CE7650}"/>
              </a:ext>
            </a:extLst>
          </p:cNvPr>
          <p:cNvSpPr txBox="1"/>
          <p:nvPr/>
        </p:nvSpPr>
        <p:spPr>
          <a:xfrm>
            <a:off x="9056437" y="423151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2C51F84B-6D76-4830-C312-97BD00942F34}"/>
              </a:ext>
            </a:extLst>
          </p:cNvPr>
          <p:cNvCxnSpPr/>
          <p:nvPr/>
        </p:nvCxnSpPr>
        <p:spPr>
          <a:xfrm>
            <a:off x="4883573" y="3620470"/>
            <a:ext cx="1124374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6E8F3AAA-1933-FEA4-4F08-3D7E94C4D597}"/>
              </a:ext>
            </a:extLst>
          </p:cNvPr>
          <p:cNvCxnSpPr>
            <a:stCxn id="57" idx="3"/>
            <a:endCxn id="56" idx="7"/>
          </p:cNvCxnSpPr>
          <p:nvPr/>
        </p:nvCxnSpPr>
        <p:spPr>
          <a:xfrm flipH="1">
            <a:off x="7480528" y="3418825"/>
            <a:ext cx="145772" cy="267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438CBB34-A788-F319-78FB-3B733DC85905}"/>
              </a:ext>
            </a:extLst>
          </p:cNvPr>
          <p:cNvCxnSpPr>
            <a:stCxn id="57" idx="5"/>
            <a:endCxn id="58" idx="1"/>
          </p:cNvCxnSpPr>
          <p:nvPr/>
        </p:nvCxnSpPr>
        <p:spPr>
          <a:xfrm>
            <a:off x="8272878" y="3418825"/>
            <a:ext cx="164514" cy="2355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ZoneTexte 75">
            <a:extLst>
              <a:ext uri="{FF2B5EF4-FFF2-40B4-BE49-F238E27FC236}">
                <a16:creationId xmlns:a16="http://schemas.microsoft.com/office/drawing/2014/main" id="{23A56D5D-6A37-6914-9AD8-8ED569CE2C0F}"/>
              </a:ext>
            </a:extLst>
          </p:cNvPr>
          <p:cNvSpPr txBox="1"/>
          <p:nvPr/>
        </p:nvSpPr>
        <p:spPr>
          <a:xfrm>
            <a:off x="2532905" y="4983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…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BC0375DF-87EA-CF69-3953-D65CBC0DEEC8}"/>
              </a:ext>
            </a:extLst>
          </p:cNvPr>
          <p:cNvSpPr txBox="1"/>
          <p:nvPr/>
        </p:nvSpPr>
        <p:spPr>
          <a:xfrm>
            <a:off x="7999174" y="47577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…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8CAFB34F-C939-18E2-0B0F-D5D3CB30A7D7}"/>
              </a:ext>
            </a:extLst>
          </p:cNvPr>
          <p:cNvSpPr txBox="1"/>
          <p:nvPr/>
        </p:nvSpPr>
        <p:spPr>
          <a:xfrm>
            <a:off x="11684000" y="62934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26601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86BA7-372D-8F04-A042-98B9A99E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6B9F563-CBFF-107E-61CE-6C9083EA2BBB}"/>
              </a:ext>
            </a:extLst>
          </p:cNvPr>
          <p:cNvSpPr/>
          <p:nvPr/>
        </p:nvSpPr>
        <p:spPr>
          <a:xfrm>
            <a:off x="0" y="6098240"/>
            <a:ext cx="12192000" cy="7597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41020DC-2399-FA87-AB7B-147FC6A1DD1E}"/>
              </a:ext>
            </a:extLst>
          </p:cNvPr>
          <p:cNvSpPr txBox="1"/>
          <p:nvPr/>
        </p:nvSpPr>
        <p:spPr>
          <a:xfrm>
            <a:off x="4465105" y="-650238"/>
            <a:ext cx="3261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Tri par insertion</a:t>
            </a:r>
          </a:p>
        </p:txBody>
      </p:sp>
      <p:pic>
        <p:nvPicPr>
          <p:cNvPr id="8" name="Image 7" descr="The provided text appears to be a snippet of a C++ function implementing the insertion sort algorithm, which is a simple sorting method.&#10;&#10;Le contenu généré par l’IA peut être incorrect.">
            <a:extLst>
              <a:ext uri="{FF2B5EF4-FFF2-40B4-BE49-F238E27FC236}">
                <a16:creationId xmlns:a16="http://schemas.microsoft.com/office/drawing/2014/main" id="{C6AE7469-5A6B-CD51-CDFF-D45F5284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8558" y="1640311"/>
            <a:ext cx="4457929" cy="445792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6C44FC1-D353-82AA-55FB-EB79EBCA29B6}"/>
              </a:ext>
            </a:extLst>
          </p:cNvPr>
          <p:cNvSpPr txBox="1"/>
          <p:nvPr/>
        </p:nvSpPr>
        <p:spPr>
          <a:xfrm>
            <a:off x="5044879" y="0"/>
            <a:ext cx="2102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Tri par tas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2873F1B-16AA-3EC3-DFB8-BDC7BABC0EAE}"/>
              </a:ext>
            </a:extLst>
          </p:cNvPr>
          <p:cNvSpPr txBox="1"/>
          <p:nvPr/>
        </p:nvSpPr>
        <p:spPr>
          <a:xfrm>
            <a:off x="0" y="1178645"/>
            <a:ext cx="200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Complexité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ABDAA75B-F53C-60A3-D31F-1E45A57216C5}"/>
                  </a:ext>
                </a:extLst>
              </p:cNvPr>
              <p:cNvSpPr txBox="1"/>
              <p:nvPr/>
            </p:nvSpPr>
            <p:spPr>
              <a:xfrm>
                <a:off x="2284963" y="1640310"/>
                <a:ext cx="3841949" cy="28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𝑡𝑟𝑖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𝑡𝑎𝑠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ABDAA75B-F53C-60A3-D31F-1E45A5721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963" y="1640310"/>
                <a:ext cx="3841949" cy="286297"/>
              </a:xfrm>
              <a:prstGeom prst="rect">
                <a:avLst/>
              </a:prstGeom>
              <a:blipFill>
                <a:blip r:embed="rId3"/>
                <a:stretch>
                  <a:fillRect l="-1111" r="-1905" b="-319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8864DDE8-9B16-A3E7-ABF8-D71D0E392087}"/>
                  </a:ext>
                </a:extLst>
              </p:cNvPr>
              <p:cNvSpPr txBox="1"/>
              <p:nvPr/>
            </p:nvSpPr>
            <p:spPr>
              <a:xfrm>
                <a:off x="-2230" y="2394655"/>
                <a:ext cx="71265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fr-FR" dirty="0"/>
                  <a:t> itérations avec pour chaque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fr-FR" dirty="0"/>
                  <a:t> itérations pour reconstruire le tas</a:t>
                </a:r>
                <a:br>
                  <a:rPr lang="fr-FR" dirty="0"/>
                </a:br>
                <a:r>
                  <a:rPr lang="fr-FR" dirty="0"/>
                  <a:t>plus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fr-FR" dirty="0"/>
                  <a:t> pour la construction initiale du tas</a:t>
                </a:r>
              </a:p>
            </p:txBody>
          </p:sp>
        </mc:Choice>
        <mc:Fallback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8864DDE8-9B16-A3E7-ABF8-D71D0E392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30" y="2394655"/>
                <a:ext cx="7126566" cy="646331"/>
              </a:xfrm>
              <a:prstGeom prst="rect">
                <a:avLst/>
              </a:prstGeom>
              <a:blipFill>
                <a:blip r:embed="rId4"/>
                <a:stretch>
                  <a:fillRect l="-770" t="-4717" b="-150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ZoneTexte 21">
            <a:extLst>
              <a:ext uri="{FF2B5EF4-FFF2-40B4-BE49-F238E27FC236}">
                <a16:creationId xmlns:a16="http://schemas.microsoft.com/office/drawing/2014/main" id="{4E1478F7-D595-7B0E-9365-29DA35733A65}"/>
              </a:ext>
            </a:extLst>
          </p:cNvPr>
          <p:cNvSpPr txBox="1"/>
          <p:nvPr/>
        </p:nvSpPr>
        <p:spPr>
          <a:xfrm>
            <a:off x="11684000" y="62934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249956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212</Words>
  <Application>Microsoft Office PowerPoint</Application>
  <PresentationFormat>Grand écran</PresentationFormat>
  <Paragraphs>62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Timéo DIEBOLT (A2 EXP Caen)</dc:creator>
  <cp:lastModifiedBy>Timéo DIEBOLT (A2 EXP Caen)</cp:lastModifiedBy>
  <cp:revision>2</cp:revision>
  <dcterms:created xsi:type="dcterms:W3CDTF">2026-09-21T12:39:09Z</dcterms:created>
  <dcterms:modified xsi:type="dcterms:W3CDTF">2026-09-21T14:20:42Z</dcterms:modified>
</cp:coreProperties>
</file>